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5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92">
          <p15:clr>
            <a:srgbClr val="A4A3A4"/>
          </p15:clr>
        </p15:guide>
        <p15:guide id="2" pos="288">
          <p15:clr>
            <a:srgbClr val="A4A3A4"/>
          </p15:clr>
        </p15:guide>
        <p15:guide id="3" orient="horz" pos="60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iTz+hMWMboKybaG2SwZmeDu2eh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F14D26-9673-4E38-A8D2-B6B77F6A0DF2}">
  <a:tblStyle styleId="{EEF14D26-9673-4E38-A8D2-B6B77F6A0DF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92" orient="horz"/>
        <p:guide pos="288"/>
        <p:guide pos="60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" name="Google Shape;53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" name="Google Shape;68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696b046e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g3c696b046e9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696b046e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3c696b046e9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a2c971c6e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a2c971c6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95c425074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c95c42507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46"/>
          <p:cNvGrpSpPr/>
          <p:nvPr/>
        </p:nvGrpSpPr>
        <p:grpSpPr>
          <a:xfrm>
            <a:off x="0" y="6651168"/>
            <a:ext cx="12670971" cy="435429"/>
            <a:chOff x="0" y="6651168"/>
            <a:chExt cx="12670971" cy="435429"/>
          </a:xfrm>
        </p:grpSpPr>
        <p:sp>
          <p:nvSpPr>
            <p:cNvPr id="12" name="Google Shape;12;p46"/>
            <p:cNvSpPr/>
            <p:nvPr/>
          </p:nvSpPr>
          <p:spPr>
            <a:xfrm rot="10800000">
              <a:off x="5519057" y="6651712"/>
              <a:ext cx="7151914" cy="434885"/>
            </a:xfrm>
            <a:custGeom>
              <a:rect b="b" l="l" r="r" t="t"/>
              <a:pathLst>
                <a:path extrusionOk="0" h="102412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>
                <a:alphaModFix/>
              </a:blip>
              <a:stretch>
                <a:fillRect b="0" l="-2282" r="0" t="-135493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46"/>
            <p:cNvSpPr/>
            <p:nvPr/>
          </p:nvSpPr>
          <p:spPr>
            <a:xfrm>
              <a:off x="0" y="6651168"/>
              <a:ext cx="5627915" cy="402771"/>
            </a:xfrm>
            <a:prstGeom prst="rect">
              <a:avLst/>
            </a:prstGeom>
            <a:solidFill>
              <a:srgbClr val="5B000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" name="Google Shape;14;p46"/>
          <p:cNvGrpSpPr/>
          <p:nvPr/>
        </p:nvGrpSpPr>
        <p:grpSpPr>
          <a:xfrm>
            <a:off x="-622201" y="-10886"/>
            <a:ext cx="12901287" cy="404184"/>
            <a:chOff x="-622201" y="-10886"/>
            <a:chExt cx="12901287" cy="404184"/>
          </a:xfrm>
        </p:grpSpPr>
        <p:sp>
          <p:nvSpPr>
            <p:cNvPr id="15" name="Google Shape;15;p46"/>
            <p:cNvSpPr/>
            <p:nvPr/>
          </p:nvSpPr>
          <p:spPr>
            <a:xfrm>
              <a:off x="-622201" y="-1"/>
              <a:ext cx="7315200" cy="393299"/>
            </a:xfrm>
            <a:custGeom>
              <a:rect b="b" l="l" r="r" t="t"/>
              <a:pathLst>
                <a:path extrusionOk="0" h="102412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>
                <a:alphaModFix/>
              </a:blip>
              <a:stretch>
                <a:fillRect b="0" l="0" r="0" t="-16038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46"/>
            <p:cNvSpPr/>
            <p:nvPr/>
          </p:nvSpPr>
          <p:spPr>
            <a:xfrm>
              <a:off x="6651171" y="-10886"/>
              <a:ext cx="5627915" cy="402771"/>
            </a:xfrm>
            <a:prstGeom prst="rect">
              <a:avLst/>
            </a:prstGeom>
            <a:solidFill>
              <a:srgbClr val="5B000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2"/>
    <p:sldLayoutId id="2147483655" r:id="rId3"/>
    <p:sldLayoutId id="2147483656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20.jpg"/><Relationship Id="rId5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drive.google.com/file/d/1lqzytRQ2KrPkMSbWDOaS4-NOwtk1Bu1f/view" TargetMode="External"/><Relationship Id="rId4" Type="http://schemas.openxmlformats.org/officeDocument/2006/relationships/image" Target="../media/image1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thub.com/akshaya3107/AI_Powered_Voice_Antispoofing_Detection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1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3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8229600" w="146304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3"/>
          <p:cNvSpPr/>
          <p:nvPr/>
        </p:nvSpPr>
        <p:spPr>
          <a:xfrm>
            <a:off x="2705101" y="38101"/>
            <a:ext cx="6781799" cy="6781799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1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3"/>
          <p:cNvSpPr txBox="1"/>
          <p:nvPr/>
        </p:nvSpPr>
        <p:spPr>
          <a:xfrm>
            <a:off x="2362200" y="1905341"/>
            <a:ext cx="7467600" cy="24377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i="0" lang="en-US" sz="6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VOIS Innovation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i="0" lang="en-US" sz="6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Marathon 2.0 </a:t>
            </a:r>
            <a:endParaRPr b="0" i="0" sz="6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3"/>
          <p:cNvSpPr/>
          <p:nvPr/>
        </p:nvSpPr>
        <p:spPr>
          <a:xfrm>
            <a:off x="292748" y="197497"/>
            <a:ext cx="1753766" cy="574358"/>
          </a:xfrm>
          <a:custGeom>
            <a:rect b="b" l="l" r="r" t="t"/>
            <a:pathLst>
              <a:path extrusionOk="0" h="890856" w="2720172">
                <a:moveTo>
                  <a:pt x="0" y="0"/>
                </a:moveTo>
                <a:lnTo>
                  <a:pt x="2720172" y="0"/>
                </a:lnTo>
                <a:lnTo>
                  <a:pt x="2720172" y="890856"/>
                </a:lnTo>
                <a:lnTo>
                  <a:pt x="0" y="8908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3"/>
          <p:cNvSpPr/>
          <p:nvPr/>
        </p:nvSpPr>
        <p:spPr>
          <a:xfrm flipH="1">
            <a:off x="10122548" y="6032241"/>
            <a:ext cx="1753766" cy="574358"/>
          </a:xfrm>
          <a:custGeom>
            <a:rect b="b" l="l" r="r" t="t"/>
            <a:pathLst>
              <a:path extrusionOk="0" h="890856" w="2720172">
                <a:moveTo>
                  <a:pt x="0" y="0"/>
                </a:moveTo>
                <a:lnTo>
                  <a:pt x="2720172" y="0"/>
                </a:lnTo>
                <a:lnTo>
                  <a:pt x="2720172" y="890856"/>
                </a:lnTo>
                <a:lnTo>
                  <a:pt x="0" y="8908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164424" y="1517800"/>
            <a:ext cx="4280400" cy="13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000"/>
              <a:buFont typeface="Arial"/>
              <a:buNone/>
            </a:pPr>
            <a:r>
              <a:rPr b="1" lang="en-US" sz="3200">
                <a:solidFill>
                  <a:srgbClr val="A20000"/>
                </a:solidFill>
              </a:rPr>
              <a:t>AI Powered Voice Anti-Spoofing Detection System</a:t>
            </a:r>
            <a:endParaRPr sz="1600"/>
          </a:p>
        </p:txBody>
      </p:sp>
      <p:grpSp>
        <p:nvGrpSpPr>
          <p:cNvPr id="34" name="Google Shape;34;p8"/>
          <p:cNvGrpSpPr/>
          <p:nvPr/>
        </p:nvGrpSpPr>
        <p:grpSpPr>
          <a:xfrm>
            <a:off x="1307097" y="2884713"/>
            <a:ext cx="3995057" cy="544287"/>
            <a:chOff x="1273629" y="1436913"/>
            <a:chExt cx="3995057" cy="544287"/>
          </a:xfrm>
        </p:grpSpPr>
        <p:sp>
          <p:nvSpPr>
            <p:cNvPr id="35" name="Google Shape;35;p8"/>
            <p:cNvSpPr/>
            <p:nvPr/>
          </p:nvSpPr>
          <p:spPr>
            <a:xfrm>
              <a:off x="1273629" y="1436913"/>
              <a:ext cx="3995057" cy="544287"/>
            </a:xfrm>
            <a:prstGeom prst="roundRect">
              <a:avLst>
                <a:gd fmla="val 16667" name="adj"/>
              </a:avLst>
            </a:prstGeom>
            <a:solidFill>
              <a:srgbClr val="F5CBC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8"/>
            <p:cNvSpPr txBox="1"/>
            <p:nvPr/>
          </p:nvSpPr>
          <p:spPr>
            <a:xfrm>
              <a:off x="1807386" y="1539779"/>
              <a:ext cx="2961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Team No. 32 </a:t>
              </a:r>
              <a:endParaRPr/>
            </a:p>
          </p:txBody>
        </p:sp>
      </p:grpSp>
      <p:grpSp>
        <p:nvGrpSpPr>
          <p:cNvPr id="37" name="Google Shape;37;p8"/>
          <p:cNvGrpSpPr/>
          <p:nvPr/>
        </p:nvGrpSpPr>
        <p:grpSpPr>
          <a:xfrm>
            <a:off x="1021968" y="5589700"/>
            <a:ext cx="4280304" cy="585000"/>
            <a:chOff x="1273629" y="1436903"/>
            <a:chExt cx="3995057" cy="585000"/>
          </a:xfrm>
        </p:grpSpPr>
        <p:sp>
          <p:nvSpPr>
            <p:cNvPr id="38" name="Google Shape;38;p8"/>
            <p:cNvSpPr/>
            <p:nvPr/>
          </p:nvSpPr>
          <p:spPr>
            <a:xfrm>
              <a:off x="1273629" y="1436913"/>
              <a:ext cx="3995057" cy="544287"/>
            </a:xfrm>
            <a:prstGeom prst="roundRect">
              <a:avLst>
                <a:gd fmla="val 16667" name="adj"/>
              </a:avLst>
            </a:prstGeom>
            <a:solidFill>
              <a:srgbClr val="F5CBC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8"/>
            <p:cNvSpPr txBox="1"/>
            <p:nvPr/>
          </p:nvSpPr>
          <p:spPr>
            <a:xfrm>
              <a:off x="1532052" y="1436903"/>
              <a:ext cx="3478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Symbiosis Institute Of Technology, Pune</a:t>
              </a: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&amp; </a:t>
              </a:r>
              <a:r>
                <a:rPr b="1" lang="en-US" sz="1600">
                  <a:solidFill>
                    <a:schemeClr val="dk1"/>
                  </a:solidFill>
                </a:rPr>
                <a:t>Maharashtra</a:t>
              </a:r>
              <a:endParaRPr/>
            </a:p>
          </p:txBody>
        </p:sp>
      </p:grpSp>
      <p:grpSp>
        <p:nvGrpSpPr>
          <p:cNvPr id="40" name="Google Shape;40;p8"/>
          <p:cNvGrpSpPr/>
          <p:nvPr/>
        </p:nvGrpSpPr>
        <p:grpSpPr>
          <a:xfrm>
            <a:off x="6998913" y="2821025"/>
            <a:ext cx="4159933" cy="486383"/>
            <a:chOff x="7500026" y="2441643"/>
            <a:chExt cx="3216029" cy="486383"/>
          </a:xfrm>
        </p:grpSpPr>
        <p:sp>
          <p:nvSpPr>
            <p:cNvPr id="41" name="Google Shape;41;p8"/>
            <p:cNvSpPr/>
            <p:nvPr/>
          </p:nvSpPr>
          <p:spPr>
            <a:xfrm>
              <a:off x="7500026" y="2441643"/>
              <a:ext cx="3112851" cy="486383"/>
            </a:xfrm>
            <a:prstGeom prst="roundRect">
              <a:avLst>
                <a:gd fmla="val 11836" name="adj"/>
              </a:avLst>
            </a:prstGeom>
            <a:solidFill>
              <a:srgbClr val="F5CBC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8"/>
            <p:cNvSpPr txBox="1"/>
            <p:nvPr/>
          </p:nvSpPr>
          <p:spPr>
            <a:xfrm>
              <a:off x="7500055" y="2529443"/>
              <a:ext cx="32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Team </a:t>
              </a:r>
              <a:r>
                <a:rPr b="1" lang="en-US" sz="1600">
                  <a:solidFill>
                    <a:schemeClr val="dk1"/>
                  </a:solidFill>
                </a:rPr>
                <a:t>lead</a:t>
              </a: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r>
                <a:rPr b="1" lang="en-US" sz="1600">
                  <a:solidFill>
                    <a:schemeClr val="dk1"/>
                  </a:solidFill>
                </a:rPr>
                <a:t>Akshaya Suryavanshi,</a:t>
              </a: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-US" sz="1600">
                  <a:solidFill>
                    <a:schemeClr val="dk1"/>
                  </a:solidFill>
                </a:rPr>
                <a:t>AI-ML</a:t>
              </a:r>
              <a:endParaRPr/>
            </a:p>
          </p:txBody>
        </p:sp>
      </p:grpSp>
      <p:sp>
        <p:nvSpPr>
          <p:cNvPr id="43" name="Google Shape;43;p8"/>
          <p:cNvSpPr/>
          <p:nvPr/>
        </p:nvSpPr>
        <p:spPr>
          <a:xfrm>
            <a:off x="8124900" y="3548625"/>
            <a:ext cx="1774500" cy="1888800"/>
          </a:xfrm>
          <a:prstGeom prst="roundRect">
            <a:avLst>
              <a:gd fmla="val 8078" name="adj"/>
            </a:avLst>
          </a:prstGeom>
          <a:solidFill>
            <a:schemeClr val="lt1"/>
          </a:solidFill>
          <a:ln cap="flat" cmpd="sng" w="19050">
            <a:solidFill>
              <a:srgbClr val="E6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your professional photo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" name="Google Shape;44;p8"/>
          <p:cNvGrpSpPr/>
          <p:nvPr/>
        </p:nvGrpSpPr>
        <p:grpSpPr>
          <a:xfrm>
            <a:off x="6999053" y="5564325"/>
            <a:ext cx="4026600" cy="486300"/>
            <a:chOff x="6285788" y="4938397"/>
            <a:chExt cx="4026600" cy="486300"/>
          </a:xfrm>
        </p:grpSpPr>
        <p:sp>
          <p:nvSpPr>
            <p:cNvPr id="45" name="Google Shape;45;p8"/>
            <p:cNvSpPr/>
            <p:nvPr/>
          </p:nvSpPr>
          <p:spPr>
            <a:xfrm>
              <a:off x="6285788" y="4938397"/>
              <a:ext cx="4026600" cy="486300"/>
            </a:xfrm>
            <a:prstGeom prst="roundRect">
              <a:avLst>
                <a:gd fmla="val 11836" name="adj"/>
              </a:avLst>
            </a:prstGeom>
            <a:solidFill>
              <a:srgbClr val="F5CBC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8"/>
            <p:cNvSpPr txBox="1"/>
            <p:nvPr/>
          </p:nvSpPr>
          <p:spPr>
            <a:xfrm>
              <a:off x="6602885" y="5032597"/>
              <a:ext cx="339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Chetanya Bhadravati</a:t>
              </a: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r>
                <a:rPr b="1" lang="en-US" sz="1600">
                  <a:solidFill>
                    <a:schemeClr val="dk1"/>
                  </a:solidFill>
                </a:rPr>
                <a:t>AI-ML</a:t>
              </a:r>
              <a:endParaRPr/>
            </a:p>
          </p:txBody>
        </p:sp>
      </p:grpSp>
      <p:sp>
        <p:nvSpPr>
          <p:cNvPr id="47" name="Google Shape;47;p8"/>
          <p:cNvSpPr/>
          <p:nvPr/>
        </p:nvSpPr>
        <p:spPr>
          <a:xfrm>
            <a:off x="8108455" y="823932"/>
            <a:ext cx="1774500" cy="1774500"/>
          </a:xfrm>
          <a:prstGeom prst="roundRect">
            <a:avLst>
              <a:gd fmla="val 8078" name="adj"/>
            </a:avLst>
          </a:prstGeom>
          <a:solidFill>
            <a:schemeClr val="lt1"/>
          </a:solidFill>
          <a:ln cap="flat" cmpd="sng" w="19050">
            <a:solidFill>
              <a:srgbClr val="E6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5775" y="3581400"/>
            <a:ext cx="3092664" cy="1855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8" title="Akshaya SIT passport size photo (1)_page-0001.jp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19545" l="0" r="0" t="19545"/>
          <a:stretch/>
        </p:blipFill>
        <p:spPr>
          <a:xfrm>
            <a:off x="8181513" y="857137"/>
            <a:ext cx="1628349" cy="1670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8" title="Chetanyapic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53200" y="3600425"/>
            <a:ext cx="1484975" cy="177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/>
          <p:nvPr/>
        </p:nvSpPr>
        <p:spPr>
          <a:xfrm>
            <a:off x="446315" y="582388"/>
            <a:ext cx="566057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A20000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/>
          </a:p>
        </p:txBody>
      </p:sp>
      <p:sp>
        <p:nvSpPr>
          <p:cNvPr id="56" name="Google Shape;56;p34"/>
          <p:cNvSpPr txBox="1"/>
          <p:nvPr/>
        </p:nvSpPr>
        <p:spPr>
          <a:xfrm>
            <a:off x="344850" y="2080825"/>
            <a:ext cx="11502300" cy="3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</a:rPr>
              <a:t>Voice authentication is widely used in banking, telecom, and customer support. However, modern AI tools can easily clone human voices and create realistic deepfake audio.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</a:rPr>
              <a:t>Current systems cannot reliably verify whether the voice is real or AI-generated. This creates serious risks of fraud, identity theft, and unauthorized access highlighting the urgent need for an intelligent voice anti-spoofing solution.</a:t>
            </a:r>
            <a:endParaRPr sz="25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4"/>
          <p:cNvSpPr txBox="1"/>
          <p:nvPr/>
        </p:nvSpPr>
        <p:spPr>
          <a:xfrm>
            <a:off x="348350" y="1137950"/>
            <a:ext cx="7228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Calibri"/>
                <a:ea typeface="Calibri"/>
                <a:cs typeface="Calibri"/>
                <a:sym typeface="Calibri"/>
              </a:rPr>
              <a:t>AI Powered Voice Anti-Spoofing System</a:t>
            </a:r>
            <a:endParaRPr sz="2300"/>
          </a:p>
        </p:txBody>
      </p:sp>
      <p:sp>
        <p:nvSpPr>
          <p:cNvPr id="58" name="Google Shape;58;p34"/>
          <p:cNvSpPr txBox="1"/>
          <p:nvPr/>
        </p:nvSpPr>
        <p:spPr>
          <a:xfrm>
            <a:off x="1048250" y="2187625"/>
            <a:ext cx="45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t/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446315" y="582388"/>
            <a:ext cx="566057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A20000"/>
                </a:solidFill>
                <a:latin typeface="Arial"/>
                <a:ea typeface="Arial"/>
                <a:cs typeface="Arial"/>
                <a:sym typeface="Arial"/>
              </a:rPr>
              <a:t>Need of Project </a:t>
            </a:r>
            <a:endParaRPr/>
          </a:p>
        </p:txBody>
      </p:sp>
      <p:pic>
        <p:nvPicPr>
          <p:cNvPr id="65" name="Google Shape;65;p4" title="Gemini_Generated_Image_8iqmwl8iqmwl8iqm.png"/>
          <p:cNvPicPr preferRelativeResize="0"/>
          <p:nvPr/>
        </p:nvPicPr>
        <p:blipFill rotWithShape="1">
          <a:blip r:embed="rId3">
            <a:alphaModFix/>
          </a:blip>
          <a:srcRect b="0" l="6245" r="6402" t="0"/>
          <a:stretch/>
        </p:blipFill>
        <p:spPr>
          <a:xfrm>
            <a:off x="2242775" y="1257300"/>
            <a:ext cx="8065848" cy="503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5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t/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35"/>
          <p:cNvSpPr txBox="1"/>
          <p:nvPr/>
        </p:nvSpPr>
        <p:spPr>
          <a:xfrm>
            <a:off x="446315" y="582388"/>
            <a:ext cx="566057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A20000"/>
                </a:solidFill>
                <a:latin typeface="Arial"/>
                <a:ea typeface="Arial"/>
                <a:cs typeface="Arial"/>
                <a:sym typeface="Arial"/>
              </a:rPr>
              <a:t>Proposed Solution</a:t>
            </a:r>
            <a:endParaRPr/>
          </a:p>
        </p:txBody>
      </p:sp>
      <p:sp>
        <p:nvSpPr>
          <p:cNvPr id="72" name="Google Shape;72;p35"/>
          <p:cNvSpPr txBox="1"/>
          <p:nvPr/>
        </p:nvSpPr>
        <p:spPr>
          <a:xfrm>
            <a:off x="348350" y="1137950"/>
            <a:ext cx="11555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We propose an AI Powered Voice Anti-Spoofing System that automatically detects whether an audio sample is genuine or spoofed.</a:t>
            </a:r>
            <a:endParaRPr sz="2500"/>
          </a:p>
        </p:txBody>
      </p:sp>
      <p:pic>
        <p:nvPicPr>
          <p:cNvPr id="73" name="Google Shape;73;p35" title="ChatGPT Image Dec 30, 2025, 12_44_46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2962" y="2093750"/>
            <a:ext cx="7509062" cy="4527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 txBox="1"/>
          <p:nvPr/>
        </p:nvSpPr>
        <p:spPr>
          <a:xfrm>
            <a:off x="446315" y="582388"/>
            <a:ext cx="566057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A20000"/>
                </a:solidFill>
                <a:latin typeface="Arial"/>
                <a:ea typeface="Arial"/>
                <a:cs typeface="Arial"/>
                <a:sym typeface="Arial"/>
              </a:rPr>
              <a:t>Solution Overview</a:t>
            </a:r>
            <a:endParaRPr/>
          </a:p>
        </p:txBody>
      </p:sp>
      <p:sp>
        <p:nvSpPr>
          <p:cNvPr id="79" name="Google Shape;79;p5"/>
          <p:cNvSpPr txBox="1"/>
          <p:nvPr/>
        </p:nvSpPr>
        <p:spPr>
          <a:xfrm>
            <a:off x="446325" y="1763500"/>
            <a:ext cx="11078700" cy="39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Our solution follows an end-to-end AI pipeline: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Audio input is collected from users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Audio is converted into Mel-Spectrograms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Feature embeddings are extracted using a pre-trained model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An Artificial Neural Network classifies the voice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Output is displayed as</a:t>
            </a:r>
            <a:endParaRPr sz="24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✅ REAL HUMAN VOICE or ❌ SYNTHETIC / CLONED VOICE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7"/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37"/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37"/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37"/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37"/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37"/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37"/>
          <p:cNvSpPr txBox="1"/>
          <p:nvPr/>
        </p:nvSpPr>
        <p:spPr>
          <a:xfrm>
            <a:off x="446315" y="582388"/>
            <a:ext cx="81193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A20000"/>
                </a:solidFill>
                <a:latin typeface="Arial"/>
                <a:ea typeface="Arial"/>
                <a:cs typeface="Arial"/>
                <a:sym typeface="Arial"/>
              </a:rPr>
              <a:t>Technical flow diagram -</a:t>
            </a:r>
            <a:endParaRPr/>
          </a:p>
        </p:txBody>
      </p:sp>
      <p:pic>
        <p:nvPicPr>
          <p:cNvPr id="91" name="Google Shape;91;p37"/>
          <p:cNvPicPr preferRelativeResize="0"/>
          <p:nvPr/>
        </p:nvPicPr>
        <p:blipFill rotWithShape="1">
          <a:blip r:embed="rId3">
            <a:alphaModFix/>
          </a:blip>
          <a:srcRect b="11197" l="0" r="0" t="0"/>
          <a:stretch/>
        </p:blipFill>
        <p:spPr>
          <a:xfrm>
            <a:off x="514675" y="1329300"/>
            <a:ext cx="10903126" cy="541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 txBox="1"/>
          <p:nvPr/>
        </p:nvSpPr>
        <p:spPr>
          <a:xfrm>
            <a:off x="446315" y="582388"/>
            <a:ext cx="566057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A20000"/>
                </a:solidFill>
                <a:latin typeface="Arial"/>
                <a:ea typeface="Arial"/>
                <a:cs typeface="Arial"/>
                <a:sym typeface="Arial"/>
              </a:rPr>
              <a:t>Architecture Blueprint</a:t>
            </a:r>
            <a:endParaRPr/>
          </a:p>
        </p:txBody>
      </p:sp>
      <p:pic>
        <p:nvPicPr>
          <p:cNvPr id="97" name="Google Shape;9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175" y="2266250"/>
            <a:ext cx="12006600" cy="195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6"/>
          <p:cNvSpPr txBox="1"/>
          <p:nvPr/>
        </p:nvSpPr>
        <p:spPr>
          <a:xfrm>
            <a:off x="454941" y="531164"/>
            <a:ext cx="80118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A20000"/>
                </a:solidFill>
                <a:latin typeface="Arial"/>
                <a:ea typeface="Arial"/>
                <a:cs typeface="Arial"/>
                <a:sym typeface="Arial"/>
              </a:rPr>
              <a:t>Technology used</a:t>
            </a:r>
            <a:endParaRPr/>
          </a:p>
        </p:txBody>
      </p:sp>
      <p:sp>
        <p:nvSpPr>
          <p:cNvPr id="103" name="Google Shape;103;p36"/>
          <p:cNvSpPr txBox="1"/>
          <p:nvPr/>
        </p:nvSpPr>
        <p:spPr>
          <a:xfrm>
            <a:off x="454941" y="1009083"/>
            <a:ext cx="491459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36" title="Gemini_Generated_Image_cxx4tocxx4tocxx4.png"/>
          <p:cNvPicPr preferRelativeResize="0"/>
          <p:nvPr/>
        </p:nvPicPr>
        <p:blipFill rotWithShape="1">
          <a:blip r:embed="rId3">
            <a:alphaModFix/>
          </a:blip>
          <a:srcRect b="8532" l="0" r="0" t="22937"/>
          <a:stretch/>
        </p:blipFill>
        <p:spPr>
          <a:xfrm>
            <a:off x="457200" y="1634775"/>
            <a:ext cx="11332326" cy="423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9"/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39"/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39"/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39"/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39"/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39"/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39"/>
          <p:cNvSpPr txBox="1"/>
          <p:nvPr/>
        </p:nvSpPr>
        <p:spPr>
          <a:xfrm>
            <a:off x="446315" y="582388"/>
            <a:ext cx="81193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A20000"/>
                </a:solidFill>
              </a:rPr>
              <a:t>Screenshots</a:t>
            </a:r>
            <a:r>
              <a:rPr b="1" i="0" lang="en-US" sz="3000" u="none" cap="none" strike="noStrike">
                <a:solidFill>
                  <a:srgbClr val="A20000"/>
                </a:solidFill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US" sz="3000">
                <a:solidFill>
                  <a:srgbClr val="A20000"/>
                </a:solidFill>
              </a:rPr>
              <a:t>the</a:t>
            </a:r>
            <a:r>
              <a:rPr b="1" i="0" lang="en-US" sz="3000" u="none" cap="none" strike="noStrike">
                <a:solidFill>
                  <a:srgbClr val="A20000"/>
                </a:solidFill>
                <a:latin typeface="Arial"/>
                <a:ea typeface="Arial"/>
                <a:cs typeface="Arial"/>
                <a:sym typeface="Arial"/>
              </a:rPr>
              <a:t> project -</a:t>
            </a:r>
            <a:endParaRPr/>
          </a:p>
        </p:txBody>
      </p:sp>
      <p:sp>
        <p:nvSpPr>
          <p:cNvPr id="116" name="Google Shape;116;p39"/>
          <p:cNvSpPr txBox="1"/>
          <p:nvPr/>
        </p:nvSpPr>
        <p:spPr>
          <a:xfrm>
            <a:off x="793630" y="1362974"/>
            <a:ext cx="55209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025" y="1171351"/>
            <a:ext cx="11016224" cy="491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696b046e9_0_4"/>
          <p:cNvSpPr/>
          <p:nvPr/>
        </p:nvSpPr>
        <p:spPr>
          <a:xfrm>
            <a:off x="2264331" y="6784578"/>
            <a:ext cx="21408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g3c696b046e9_0_4"/>
          <p:cNvSpPr/>
          <p:nvPr/>
        </p:nvSpPr>
        <p:spPr>
          <a:xfrm>
            <a:off x="1782604" y="7100213"/>
            <a:ext cx="31041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g3c696b046e9_0_4"/>
          <p:cNvSpPr/>
          <p:nvPr/>
        </p:nvSpPr>
        <p:spPr>
          <a:xfrm>
            <a:off x="5732383" y="6784578"/>
            <a:ext cx="17940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g3c696b046e9_0_4"/>
          <p:cNvSpPr/>
          <p:nvPr/>
        </p:nvSpPr>
        <p:spPr>
          <a:xfrm>
            <a:off x="5077301" y="7100213"/>
            <a:ext cx="31041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g3c696b046e9_0_4"/>
          <p:cNvSpPr/>
          <p:nvPr/>
        </p:nvSpPr>
        <p:spPr>
          <a:xfrm>
            <a:off x="9027081" y="6784578"/>
            <a:ext cx="17940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g3c696b046e9_0_4"/>
          <p:cNvSpPr/>
          <p:nvPr/>
        </p:nvSpPr>
        <p:spPr>
          <a:xfrm>
            <a:off x="8371999" y="7100213"/>
            <a:ext cx="31041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g3c696b046e9_0_4"/>
          <p:cNvSpPr txBox="1"/>
          <p:nvPr/>
        </p:nvSpPr>
        <p:spPr>
          <a:xfrm>
            <a:off x="446315" y="582388"/>
            <a:ext cx="811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A20000"/>
                </a:solidFill>
              </a:rPr>
              <a:t>Screenshots</a:t>
            </a:r>
            <a:r>
              <a:rPr b="1" i="0" lang="en-US" sz="3000" u="none" cap="none" strike="noStrike">
                <a:solidFill>
                  <a:srgbClr val="A20000"/>
                </a:solidFill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US" sz="3000">
                <a:solidFill>
                  <a:srgbClr val="A20000"/>
                </a:solidFill>
              </a:rPr>
              <a:t>the</a:t>
            </a:r>
            <a:r>
              <a:rPr b="1" i="0" lang="en-US" sz="3000" u="none" cap="none" strike="noStrike">
                <a:solidFill>
                  <a:srgbClr val="A20000"/>
                </a:solidFill>
                <a:latin typeface="Arial"/>
                <a:ea typeface="Arial"/>
                <a:cs typeface="Arial"/>
                <a:sym typeface="Arial"/>
              </a:rPr>
              <a:t> project -</a:t>
            </a:r>
            <a:endParaRPr/>
          </a:p>
        </p:txBody>
      </p:sp>
      <p:sp>
        <p:nvSpPr>
          <p:cNvPr id="129" name="Google Shape;129;g3c696b046e9_0_4"/>
          <p:cNvSpPr txBox="1"/>
          <p:nvPr/>
        </p:nvSpPr>
        <p:spPr>
          <a:xfrm>
            <a:off x="793630" y="1362974"/>
            <a:ext cx="552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g3c696b046e9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362974"/>
            <a:ext cx="11016990" cy="4809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696b046e9_0_17"/>
          <p:cNvSpPr/>
          <p:nvPr/>
        </p:nvSpPr>
        <p:spPr>
          <a:xfrm>
            <a:off x="2264331" y="6784578"/>
            <a:ext cx="21408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g3c696b046e9_0_17"/>
          <p:cNvSpPr/>
          <p:nvPr/>
        </p:nvSpPr>
        <p:spPr>
          <a:xfrm>
            <a:off x="1782604" y="7100213"/>
            <a:ext cx="31041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g3c696b046e9_0_17"/>
          <p:cNvSpPr/>
          <p:nvPr/>
        </p:nvSpPr>
        <p:spPr>
          <a:xfrm>
            <a:off x="5732383" y="6784578"/>
            <a:ext cx="17940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g3c696b046e9_0_17"/>
          <p:cNvSpPr/>
          <p:nvPr/>
        </p:nvSpPr>
        <p:spPr>
          <a:xfrm>
            <a:off x="5077301" y="7100213"/>
            <a:ext cx="31041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g3c696b046e9_0_17"/>
          <p:cNvSpPr/>
          <p:nvPr/>
        </p:nvSpPr>
        <p:spPr>
          <a:xfrm>
            <a:off x="9027081" y="6784578"/>
            <a:ext cx="17940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g3c696b046e9_0_17"/>
          <p:cNvSpPr/>
          <p:nvPr/>
        </p:nvSpPr>
        <p:spPr>
          <a:xfrm>
            <a:off x="8371999" y="7100213"/>
            <a:ext cx="31041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g3c696b046e9_0_17"/>
          <p:cNvSpPr txBox="1"/>
          <p:nvPr/>
        </p:nvSpPr>
        <p:spPr>
          <a:xfrm>
            <a:off x="446315" y="582388"/>
            <a:ext cx="811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A20000"/>
                </a:solidFill>
              </a:rPr>
              <a:t>Screenshots</a:t>
            </a:r>
            <a:r>
              <a:rPr b="1" i="0" lang="en-US" sz="3000" u="none" cap="none" strike="noStrike">
                <a:solidFill>
                  <a:srgbClr val="A20000"/>
                </a:solidFill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US" sz="3000">
                <a:solidFill>
                  <a:srgbClr val="A20000"/>
                </a:solidFill>
              </a:rPr>
              <a:t>the</a:t>
            </a:r>
            <a:r>
              <a:rPr b="1" i="0" lang="en-US" sz="3000" u="none" cap="none" strike="noStrike">
                <a:solidFill>
                  <a:srgbClr val="A20000"/>
                </a:solidFill>
                <a:latin typeface="Arial"/>
                <a:ea typeface="Arial"/>
                <a:cs typeface="Arial"/>
                <a:sym typeface="Arial"/>
              </a:rPr>
              <a:t> project -</a:t>
            </a:r>
            <a:endParaRPr/>
          </a:p>
        </p:txBody>
      </p:sp>
      <p:sp>
        <p:nvSpPr>
          <p:cNvPr id="142" name="Google Shape;142;g3c696b046e9_0_17"/>
          <p:cNvSpPr txBox="1"/>
          <p:nvPr/>
        </p:nvSpPr>
        <p:spPr>
          <a:xfrm>
            <a:off x="793630" y="1362974"/>
            <a:ext cx="552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g3c696b046e9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257299"/>
            <a:ext cx="11534239" cy="4809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a2c971c6e_0_8"/>
          <p:cNvSpPr txBox="1"/>
          <p:nvPr/>
        </p:nvSpPr>
        <p:spPr>
          <a:xfrm>
            <a:off x="446315" y="582388"/>
            <a:ext cx="811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A20000"/>
                </a:solidFill>
              </a:rPr>
              <a:t>Results </a:t>
            </a:r>
            <a:r>
              <a:rPr b="1" i="0" lang="en-US" sz="3000" u="none" cap="none" strike="noStrike">
                <a:solidFill>
                  <a:srgbClr val="A2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</p:txBody>
      </p:sp>
      <p:pic>
        <p:nvPicPr>
          <p:cNvPr id="149" name="Google Shape;149;g3ca2c971c6e_0_8" title="Gemini_Generated_Image_rqrs5krqrs5krqr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4250" y="1439700"/>
            <a:ext cx="7663498" cy="417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95c425074_0_3"/>
          <p:cNvSpPr txBox="1"/>
          <p:nvPr/>
        </p:nvSpPr>
        <p:spPr>
          <a:xfrm>
            <a:off x="554975" y="573525"/>
            <a:ext cx="99117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/>
              <a:t>Demo Video</a:t>
            </a:r>
            <a:endParaRPr b="1" sz="2300"/>
          </a:p>
        </p:txBody>
      </p:sp>
      <p:pic>
        <p:nvPicPr>
          <p:cNvPr id="155" name="Google Shape;155;g3c95c425074_0_3" title="VOIS VIDEO FINAL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8350" y="1090725"/>
            <a:ext cx="9711067" cy="546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41" title="ChatGPT Image Feb 9, 2026, 03_40_40 PM.png"/>
          <p:cNvPicPr preferRelativeResize="0"/>
          <p:nvPr/>
        </p:nvPicPr>
        <p:blipFill rotWithShape="1">
          <a:blip r:embed="rId3">
            <a:alphaModFix/>
          </a:blip>
          <a:srcRect b="16216" l="0" r="0" t="6155"/>
          <a:stretch/>
        </p:blipFill>
        <p:spPr>
          <a:xfrm>
            <a:off x="1083250" y="885388"/>
            <a:ext cx="9829801" cy="5087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3"/>
          <p:cNvSpPr txBox="1"/>
          <p:nvPr/>
        </p:nvSpPr>
        <p:spPr>
          <a:xfrm>
            <a:off x="446315" y="582388"/>
            <a:ext cx="80118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A20000"/>
                </a:solidFill>
                <a:latin typeface="Arial"/>
                <a:ea typeface="Arial"/>
                <a:cs typeface="Arial"/>
                <a:sym typeface="Arial"/>
              </a:rPr>
              <a:t>Future Scope </a:t>
            </a:r>
            <a:endParaRPr/>
          </a:p>
        </p:txBody>
      </p:sp>
      <p:pic>
        <p:nvPicPr>
          <p:cNvPr id="166" name="Google Shape;166;p43" title="ChatGPT Image Dec 30, 2025, 12_50_31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5950" y="1348700"/>
            <a:ext cx="8335200" cy="4654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2"/>
          <p:cNvSpPr txBox="1"/>
          <p:nvPr/>
        </p:nvSpPr>
        <p:spPr>
          <a:xfrm>
            <a:off x="446315" y="582388"/>
            <a:ext cx="80118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A20000"/>
                </a:solidFill>
                <a:latin typeface="Arial"/>
                <a:ea typeface="Arial"/>
                <a:cs typeface="Arial"/>
                <a:sym typeface="Arial"/>
              </a:rPr>
              <a:t>Git Hub Link</a:t>
            </a:r>
            <a:endParaRPr/>
          </a:p>
        </p:txBody>
      </p:sp>
      <p:sp>
        <p:nvSpPr>
          <p:cNvPr id="172" name="Google Shape;172;p42"/>
          <p:cNvSpPr txBox="1"/>
          <p:nvPr/>
        </p:nvSpPr>
        <p:spPr>
          <a:xfrm>
            <a:off x="294277" y="1592575"/>
            <a:ext cx="11005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https://github.com/akshaya3107/AI_Powered_Voice_Antispoofing_Detection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4"/>
          <p:cNvSpPr txBox="1"/>
          <p:nvPr/>
        </p:nvSpPr>
        <p:spPr>
          <a:xfrm>
            <a:off x="446315" y="582388"/>
            <a:ext cx="80118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A20000"/>
                </a:solidFill>
                <a:latin typeface="Arial"/>
                <a:ea typeface="Arial"/>
                <a:cs typeface="Arial"/>
                <a:sym typeface="Arial"/>
              </a:rPr>
              <a:t>Bank Details</a:t>
            </a:r>
            <a:endParaRPr/>
          </a:p>
        </p:txBody>
      </p:sp>
      <p:graphicFrame>
        <p:nvGraphicFramePr>
          <p:cNvPr id="178" name="Google Shape;178;p44"/>
          <p:cNvGraphicFramePr/>
          <p:nvPr/>
        </p:nvGraphicFramePr>
        <p:xfrm>
          <a:off x="457200" y="12573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{EEF14D26-9673-4E38-A8D2-B6B77F6A0DF2}</a:tableStyleId>
              </a:tblPr>
              <a:tblGrid>
                <a:gridCol w="1877450"/>
                <a:gridCol w="1877450"/>
                <a:gridCol w="1877450"/>
                <a:gridCol w="1877450"/>
                <a:gridCol w="1877450"/>
                <a:gridCol w="18774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 Name (as per bank records):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Bank Name</a:t>
                      </a:r>
                      <a:endParaRPr b="1" sz="1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Branch Name</a:t>
                      </a:r>
                      <a:endParaRPr b="1" sz="1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Account Number</a:t>
                      </a:r>
                      <a:endParaRPr b="1" sz="1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Account Type (Savings / Current)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IFSC Code</a:t>
                      </a:r>
                      <a:endParaRPr b="1" sz="1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0000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Chetanya Mahesh Bhadravati</a:t>
                      </a:r>
                      <a:endParaRPr b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Bank of Maharashtra</a:t>
                      </a:r>
                      <a:endParaRPr b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B.T.Kawade Road</a:t>
                      </a:r>
                      <a:endParaRPr b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60487433147</a:t>
                      </a:r>
                      <a:endParaRPr b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Saving</a:t>
                      </a:r>
                      <a:endParaRPr b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MAHB0001718</a:t>
                      </a:r>
                      <a:endParaRPr b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7F7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Akshaya Prakash Suryavanshi</a:t>
                      </a:r>
                      <a:endParaRPr b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Axis Bank</a:t>
                      </a:r>
                      <a:endParaRPr b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S.B.Road </a:t>
                      </a:r>
                      <a:endParaRPr b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921010009327149</a:t>
                      </a:r>
                      <a:endParaRPr b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Saving</a:t>
                      </a:r>
                      <a:endParaRPr b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UTIB0000315</a:t>
                      </a:r>
                      <a:endParaRPr b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2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7F7"/>
                    </a:solidFill>
                  </a:tcPr>
                </a:tc>
              </a:tr>
            </a:tbl>
          </a:graphicData>
        </a:graphic>
      </p:graphicFrame>
      <p:pic>
        <p:nvPicPr>
          <p:cNvPr id="179" name="Google Shape;17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399999">
            <a:off x="8049413" y="2279563"/>
            <a:ext cx="2438400" cy="44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44"/>
          <p:cNvSpPr txBox="1"/>
          <p:nvPr/>
        </p:nvSpPr>
        <p:spPr>
          <a:xfrm>
            <a:off x="7458113" y="5851275"/>
            <a:ext cx="36210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Akshaya Suryavanshi</a:t>
            </a:r>
            <a:endParaRPr/>
          </a:p>
        </p:txBody>
      </p:sp>
      <p:sp>
        <p:nvSpPr>
          <p:cNvPr id="181" name="Google Shape;181;p44"/>
          <p:cNvSpPr txBox="1"/>
          <p:nvPr/>
        </p:nvSpPr>
        <p:spPr>
          <a:xfrm>
            <a:off x="1387775" y="5817425"/>
            <a:ext cx="29958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Chetanya Bhadravati</a:t>
            </a:r>
            <a:endParaRPr/>
          </a:p>
        </p:txBody>
      </p:sp>
      <p:sp>
        <p:nvSpPr>
          <p:cNvPr id="182" name="Google Shape;182;p44"/>
          <p:cNvSpPr/>
          <p:nvPr/>
        </p:nvSpPr>
        <p:spPr>
          <a:xfrm>
            <a:off x="6750350" y="3207925"/>
            <a:ext cx="4971600" cy="2643300"/>
          </a:xfrm>
          <a:prstGeom prst="roundRect">
            <a:avLst>
              <a:gd fmla="val 8078" name="adj"/>
            </a:avLst>
          </a:prstGeom>
          <a:noFill/>
          <a:ln cap="flat" cmpd="sng" w="19050">
            <a:solidFill>
              <a:srgbClr val="E6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4"/>
          <p:cNvSpPr/>
          <p:nvPr/>
        </p:nvSpPr>
        <p:spPr>
          <a:xfrm>
            <a:off x="457200" y="3207925"/>
            <a:ext cx="4971600" cy="2643300"/>
          </a:xfrm>
          <a:prstGeom prst="roundRect">
            <a:avLst>
              <a:gd fmla="val 8078" name="adj"/>
            </a:avLst>
          </a:prstGeom>
          <a:noFill/>
          <a:ln cap="flat" cmpd="sng" w="19050">
            <a:solidFill>
              <a:srgbClr val="E6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44" title="WhatsApp Image 2026-02-09 at 19.45.08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7400" y="3310375"/>
            <a:ext cx="32512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/>
          <p:nvPr/>
        </p:nvSpPr>
        <p:spPr>
          <a:xfrm>
            <a:off x="3952195" y="3044279"/>
            <a:ext cx="428761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A2000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ank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ntent Body Part_Internal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2025-07-08T05:06:56Z</dcterms:created>
  <dc:creator>Manda Anirudh</dc:creator>
</cp:coreProperties>
</file>